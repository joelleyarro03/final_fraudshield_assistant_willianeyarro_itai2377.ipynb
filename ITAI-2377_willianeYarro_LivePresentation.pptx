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7" r:id="rId3"/>
    <p:sldId id="257" r:id="rId4"/>
    <p:sldId id="265" r:id="rId5"/>
    <p:sldId id="264" r:id="rId6"/>
    <p:sldId id="263" r:id="rId7"/>
    <p:sldId id="258" r:id="rId8"/>
    <p:sldId id="262" r:id="rId9"/>
    <p:sldId id="260" r:id="rId10"/>
    <p:sldId id="261" r:id="rId11"/>
    <p:sldId id="259"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120" d="100"/>
          <a:sy n="120" d="100"/>
        </p:scale>
        <p:origin x="1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9E0287E-3145-41F0-891F-98973CADDCC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6987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spTree>
    <p:extLst>
      <p:ext uri="{BB962C8B-B14F-4D97-AF65-F5344CB8AC3E}">
        <p14:creationId xmlns:p14="http://schemas.microsoft.com/office/powerpoint/2010/main" val="4273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3194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9FA386-A78E-4BEC-88FB-2FE8D0EB085C}"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E0287E-3145-41F0-891F-98973CADDCC5}" type="slidenum">
              <a:rPr lang="en-US" smtClean="0"/>
              <a:t>‹#›</a:t>
            </a:fld>
            <a:endParaRPr lang="en-US"/>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055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9FA386-A78E-4BEC-88FB-2FE8D0EB085C}"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E0287E-3145-41F0-891F-98973CADDCC5}"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2922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9FA386-A78E-4BEC-88FB-2FE8D0EB085C}"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E0287E-3145-41F0-891F-98973CADDCC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0859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9FA386-A78E-4BEC-88FB-2FE8D0EB085C}"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E0287E-3145-41F0-891F-98973CADDCC5}" type="slidenum">
              <a:rPr lang="en-US" smtClean="0"/>
              <a:t>‹#›</a:t>
            </a:fld>
            <a:endParaRPr lang="en-US"/>
          </a:p>
        </p:txBody>
      </p:sp>
    </p:spTree>
    <p:extLst>
      <p:ext uri="{BB962C8B-B14F-4D97-AF65-F5344CB8AC3E}">
        <p14:creationId xmlns:p14="http://schemas.microsoft.com/office/powerpoint/2010/main" val="345311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9FA386-A78E-4BEC-88FB-2FE8D0EB085C}"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E0287E-3145-41F0-891F-98973CADDCC5}"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628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9FA386-A78E-4BEC-88FB-2FE8D0EB085C}"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E0287E-3145-41F0-891F-98973CADDCC5}" type="slidenum">
              <a:rPr lang="en-US" smtClean="0"/>
              <a:t>‹#›</a:t>
            </a:fld>
            <a:endParaRPr lang="en-US"/>
          </a:p>
        </p:txBody>
      </p:sp>
    </p:spTree>
    <p:extLst>
      <p:ext uri="{BB962C8B-B14F-4D97-AF65-F5344CB8AC3E}">
        <p14:creationId xmlns:p14="http://schemas.microsoft.com/office/powerpoint/2010/main" val="17538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9FA386-A78E-4BEC-88FB-2FE8D0EB085C}"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E0287E-3145-41F0-891F-98973CADDCC5}" type="slidenum">
              <a:rPr lang="en-US" smtClean="0"/>
              <a:t>‹#›</a:t>
            </a:fld>
            <a:endParaRPr lang="en-US"/>
          </a:p>
        </p:txBody>
      </p:sp>
    </p:spTree>
    <p:extLst>
      <p:ext uri="{BB962C8B-B14F-4D97-AF65-F5344CB8AC3E}">
        <p14:creationId xmlns:p14="http://schemas.microsoft.com/office/powerpoint/2010/main" val="1728661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8520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878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spTree>
    <p:extLst>
      <p:ext uri="{BB962C8B-B14F-4D97-AF65-F5344CB8AC3E}">
        <p14:creationId xmlns:p14="http://schemas.microsoft.com/office/powerpoint/2010/main" val="916958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1264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6117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953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A386-A78E-4BEC-88FB-2FE8D0EB085C}"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E0287E-3145-41F0-891F-98973CADDCC5}"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758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9FA386-A78E-4BEC-88FB-2FE8D0EB085C}" type="datetimeFigureOut">
              <a:rPr lang="en-US" smtClean="0"/>
              <a:t>9/29/2025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9E0287E-3145-41F0-891F-98973CADDCC5}" type="slidenum">
              <a:rPr lang="en-US" smtClean="0"/>
              <a:t>‹#›</a:t>
            </a:fld>
            <a:endParaRPr lang="en-US"/>
          </a:p>
        </p:txBody>
      </p:sp>
    </p:spTree>
    <p:extLst>
      <p:ext uri="{BB962C8B-B14F-4D97-AF65-F5344CB8AC3E}">
        <p14:creationId xmlns:p14="http://schemas.microsoft.com/office/powerpoint/2010/main" val="39543423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C8502AC-24B5-6EF8-B128-1C2A13906048}"/>
              </a:ext>
            </a:extLst>
          </p:cNvPr>
          <p:cNvSpPr>
            <a:spLocks noGrp="1"/>
          </p:cNvSpPr>
          <p:nvPr>
            <p:ph type="subTitle" idx="1"/>
          </p:nvPr>
        </p:nvSpPr>
        <p:spPr>
          <a:xfrm>
            <a:off x="2692398" y="2401294"/>
            <a:ext cx="6815669" cy="2941983"/>
          </a:xfrm>
        </p:spPr>
        <p:txBody>
          <a:bodyPr>
            <a:normAutofit/>
          </a:bodyPr>
          <a:lstStyle/>
          <a:p>
            <a:r>
              <a:rPr lang="en-US" b="1" dirty="0">
                <a:solidFill>
                  <a:schemeClr val="accent1"/>
                </a:solidFill>
              </a:rPr>
              <a:t>ITAI 2377 – Data Science for AI &amp; Robotics</a:t>
            </a:r>
          </a:p>
          <a:p>
            <a:r>
              <a:rPr lang="en-US" sz="1500" b="1" dirty="0">
                <a:solidFill>
                  <a:schemeClr val="accent1"/>
                </a:solidFill>
                <a:latin typeface="Times New Roman" panose="02020603050405020304" pitchFamily="18" charset="0"/>
                <a:cs typeface="Times New Roman" panose="02020603050405020304" pitchFamily="18" charset="0"/>
              </a:rPr>
              <a:t>Instructor Name: </a:t>
            </a:r>
            <a:r>
              <a:rPr lang="en-US" sz="1500" b="1" i="0" dirty="0">
                <a:solidFill>
                  <a:srgbClr val="273540"/>
                </a:solidFill>
                <a:effectLst/>
                <a:latin typeface="Times New Roman" panose="02020603050405020304" pitchFamily="18" charset="0"/>
                <a:cs typeface="Times New Roman" panose="02020603050405020304" pitchFamily="18" charset="0"/>
              </a:rPr>
              <a:t>Hardik Gohel</a:t>
            </a:r>
            <a:r>
              <a:rPr lang="en-US" sz="1500" b="0" i="0" dirty="0">
                <a:solidFill>
                  <a:srgbClr val="273540"/>
                </a:solidFill>
                <a:effectLst/>
                <a:latin typeface="Times New Roman" panose="02020603050405020304" pitchFamily="18" charset="0"/>
                <a:cs typeface="Times New Roman" panose="02020603050405020304" pitchFamily="18" charset="0"/>
              </a:rPr>
              <a:t>, </a:t>
            </a:r>
          </a:p>
          <a:p>
            <a:r>
              <a:rPr lang="en-US" sz="1500" b="1" dirty="0">
                <a:solidFill>
                  <a:schemeClr val="accent1"/>
                </a:solidFill>
                <a:latin typeface="Times New Roman" panose="02020603050405020304" pitchFamily="18" charset="0"/>
                <a:cs typeface="Times New Roman" panose="02020603050405020304" pitchFamily="18" charset="0"/>
              </a:rPr>
              <a:t>Williane Yarro</a:t>
            </a:r>
          </a:p>
          <a:p>
            <a:r>
              <a:rPr lang="en-US" b="1" dirty="0">
                <a:solidFill>
                  <a:schemeClr val="accent1"/>
                </a:solidFill>
              </a:rPr>
              <a:t>Live Presentation ITAI 2377 – Data Science for AI &amp; Robotics</a:t>
            </a:r>
          </a:p>
          <a:p>
            <a:r>
              <a:rPr lang="en-US" b="1" dirty="0">
                <a:solidFill>
                  <a:schemeClr val="accent1"/>
                </a:solidFill>
              </a:rPr>
              <a:t>Live Presentation</a:t>
            </a:r>
          </a:p>
          <a:p>
            <a:r>
              <a:rPr lang="en-US" b="1" dirty="0">
                <a:solidFill>
                  <a:schemeClr val="accent1"/>
                </a:solidFill>
              </a:rPr>
              <a:t>September 29, 2025</a:t>
            </a:r>
          </a:p>
          <a:p>
            <a:endParaRPr lang="en-US" b="1" dirty="0">
              <a:solidFill>
                <a:schemeClr val="accent1"/>
              </a:solidFill>
            </a:endParaRPr>
          </a:p>
        </p:txBody>
      </p:sp>
    </p:spTree>
    <p:extLst>
      <p:ext uri="{BB962C8B-B14F-4D97-AF65-F5344CB8AC3E}">
        <p14:creationId xmlns:p14="http://schemas.microsoft.com/office/powerpoint/2010/main" val="2042471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A095-4FE7-37BA-8250-E0C7B6779A51}"/>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Data Wranglers: Preprocessing Customer Profile Data for Churn Prediction</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7A3C6C-DD19-07AE-75AC-E60F005B7865}"/>
              </a:ext>
            </a:extLst>
          </p:cNvPr>
          <p:cNvSpPr>
            <a:spLocks noGrp="1"/>
          </p:cNvSpPr>
          <p:nvPr>
            <p:ph idx="1"/>
          </p:nvPr>
        </p:nvSpPr>
        <p:spPr>
          <a:xfrm>
            <a:off x="1295401" y="3132814"/>
            <a:ext cx="9601196" cy="2743054"/>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Brief Summary prior to Introduction</a:t>
            </a:r>
          </a:p>
          <a:p>
            <a:pPr marL="0" indent="0">
              <a:buNone/>
            </a:pPr>
            <a:r>
              <a:rPr lang="en-US" sz="1800" dirty="0">
                <a:latin typeface="Times New Roman" panose="02020603050405020304" pitchFamily="18" charset="0"/>
                <a:cs typeface="Times New Roman" panose="02020603050405020304" pitchFamily="18" charset="0"/>
              </a:rPr>
              <a:t>Our initiative focuses on refining disorganized customer profile data to enhance the accuracy of churn predictions made by a deep learning model. We have pinpointed critical issues, implemented preprocessing strategies, and evaluated the effects on the model's performance. Let us begin by discussing the importance of preparation.</a:t>
            </a:r>
          </a:p>
        </p:txBody>
      </p:sp>
    </p:spTree>
    <p:extLst>
      <p:ext uri="{BB962C8B-B14F-4D97-AF65-F5344CB8AC3E}">
        <p14:creationId xmlns:p14="http://schemas.microsoft.com/office/powerpoint/2010/main" val="75592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B2B9-609D-82B7-0E50-7C7591016674}"/>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B4D93209-D55B-3346-188B-80A3AC8CA9DF}"/>
              </a:ext>
            </a:extLst>
          </p:cNvPr>
          <p:cNvSpPr>
            <a:spLocks noGrp="1"/>
          </p:cNvSpPr>
          <p:nvPr>
            <p:ph idx="1"/>
          </p:nvPr>
        </p:nvSpPr>
        <p:spPr>
          <a:xfrm>
            <a:off x="1295401" y="2926080"/>
            <a:ext cx="9601196" cy="2949788"/>
          </a:xfrm>
        </p:spPr>
        <p:txBody>
          <a:bodyPr/>
          <a:lstStyle/>
          <a:p>
            <a:endParaRPr lang="en-US" dirty="0"/>
          </a:p>
          <a:p>
            <a:pPr marL="0" indent="0">
              <a:buNone/>
            </a:pPr>
            <a:endParaRPr lang="en-US" dirty="0"/>
          </a:p>
        </p:txBody>
      </p:sp>
      <p:sp>
        <p:nvSpPr>
          <p:cNvPr id="5" name="TextBox 4">
            <a:extLst>
              <a:ext uri="{FF2B5EF4-FFF2-40B4-BE49-F238E27FC236}">
                <a16:creationId xmlns:a16="http://schemas.microsoft.com/office/drawing/2014/main" id="{506B4999-AB5B-99AB-A44E-730D7C0DEDC1}"/>
              </a:ext>
            </a:extLst>
          </p:cNvPr>
          <p:cNvSpPr txBox="1"/>
          <p:nvPr/>
        </p:nvSpPr>
        <p:spPr>
          <a:xfrm>
            <a:off x="1844703" y="2549849"/>
            <a:ext cx="8555603"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Data preprocessing guarantees a more refined and standardized dataset for deep learning applications.</a:t>
            </a:r>
          </a:p>
          <a:p>
            <a:r>
              <a:rPr lang="en-US" dirty="0">
                <a:latin typeface="Times New Roman" panose="02020603050405020304" pitchFamily="18" charset="0"/>
                <a:cs typeface="Times New Roman" panose="02020603050405020304" pitchFamily="18" charset="0"/>
              </a:rPr>
              <a:t>• Models depend on uniform input to achieve both accuracy and efficiency.</a:t>
            </a:r>
          </a:p>
          <a:p>
            <a:r>
              <a:rPr lang="en-US" dirty="0">
                <a:latin typeface="Times New Roman" panose="02020603050405020304" pitchFamily="18" charset="0"/>
                <a:cs typeface="Times New Roman" panose="02020603050405020304" pitchFamily="18" charset="0"/>
              </a:rPr>
              <a:t>• Emphasis: Customer profile information (age, geographical location, type of subscription, payment method).</a:t>
            </a:r>
          </a:p>
          <a:p>
            <a:r>
              <a:rPr lang="en-US" dirty="0">
                <a:latin typeface="Times New Roman" panose="02020603050405020304" pitchFamily="18" charset="0"/>
                <a:cs typeface="Times New Roman" panose="02020603050405020304" pitchFamily="18" charset="0"/>
              </a:rPr>
              <a:t>• Objective: Detect problems and suggest preprocessing strategies.</a:t>
            </a:r>
          </a:p>
        </p:txBody>
      </p:sp>
    </p:spTree>
    <p:extLst>
      <p:ext uri="{BB962C8B-B14F-4D97-AF65-F5344CB8AC3E}">
        <p14:creationId xmlns:p14="http://schemas.microsoft.com/office/powerpoint/2010/main" val="1025203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0746-3AE0-59EB-E2E9-955DA0D6008F}"/>
              </a:ext>
            </a:extLst>
          </p:cNvPr>
          <p:cNvSpPr>
            <a:spLocks noGrp="1"/>
          </p:cNvSpPr>
          <p:nvPr>
            <p:ph type="title"/>
          </p:nvPr>
        </p:nvSpPr>
        <p:spPr/>
        <p:txBody>
          <a:bodyPr/>
          <a:lstStyle/>
          <a:p>
            <a:r>
              <a:rPr lang="en-US" b="1" dirty="0">
                <a:solidFill>
                  <a:srgbClr val="00B050"/>
                </a:solidFill>
              </a:rPr>
              <a:t>Data Investigation: Identified Issues</a:t>
            </a:r>
          </a:p>
        </p:txBody>
      </p:sp>
      <p:sp>
        <p:nvSpPr>
          <p:cNvPr id="3" name="Content Placeholder 2">
            <a:extLst>
              <a:ext uri="{FF2B5EF4-FFF2-40B4-BE49-F238E27FC236}">
                <a16:creationId xmlns:a16="http://schemas.microsoft.com/office/drawing/2014/main" id="{F5D0E8AE-0377-5C19-F8B8-583CD6FF8820}"/>
              </a:ext>
            </a:extLst>
          </p:cNvPr>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1. Absence of age data (15% of records)</a:t>
            </a:r>
          </a:p>
          <a:p>
            <a:r>
              <a:rPr lang="en-US" sz="1800" dirty="0">
                <a:latin typeface="Times New Roman" panose="02020603050405020304" pitchFamily="18" charset="0"/>
                <a:cs typeface="Times New Roman" panose="02020603050405020304" pitchFamily="18" charset="0"/>
              </a:rPr>
              <a:t>2. Variability in location formats (TX, Texas)</a:t>
            </a:r>
          </a:p>
          <a:p>
            <a:r>
              <a:rPr lang="en-US" sz="1800" dirty="0">
                <a:latin typeface="Times New Roman" panose="02020603050405020304" pitchFamily="18" charset="0"/>
                <a:cs typeface="Times New Roman" panose="02020603050405020304" pitchFamily="18" charset="0"/>
              </a:rPr>
              <a:t>3. Differences in subscription types (Prem, Premium)</a:t>
            </a:r>
          </a:p>
          <a:p>
            <a:r>
              <a:rPr lang="en-US" sz="1800" dirty="0">
                <a:latin typeface="Times New Roman" panose="02020603050405020304" pitchFamily="18" charset="0"/>
                <a:cs typeface="Times New Roman" panose="02020603050405020304" pitchFamily="18" charset="0"/>
              </a:rPr>
              <a:t>4. Inconsistencies in payment methods (</a:t>
            </a:r>
            <a:r>
              <a:rPr lang="en-US" sz="1800" dirty="0" err="1">
                <a:latin typeface="Times New Roman" panose="02020603050405020304" pitchFamily="18" charset="0"/>
                <a:cs typeface="Times New Roman" panose="02020603050405020304" pitchFamily="18" charset="0"/>
              </a:rPr>
              <a:t>Paypal</a:t>
            </a:r>
            <a:r>
              <a:rPr lang="en-US" sz="1800" dirty="0">
                <a:latin typeface="Times New Roman" panose="02020603050405020304" pitchFamily="18" charset="0"/>
                <a:cs typeface="Times New Roman" panose="02020603050405020304" pitchFamily="18" charset="0"/>
              </a:rPr>
              <a:t>, PayPal)</a:t>
            </a:r>
          </a:p>
          <a:p>
            <a:r>
              <a:rPr lang="en-US" sz="1800" dirty="0">
                <a:latin typeface="Times New Roman" panose="02020603050405020304" pitchFamily="18" charset="0"/>
                <a:cs typeface="Times New Roman" panose="02020603050405020304" pitchFamily="18" charset="0"/>
              </a:rPr>
              <a:t>5. Redundant accounts associated with the same email address</a:t>
            </a:r>
          </a:p>
        </p:txBody>
      </p:sp>
    </p:spTree>
    <p:extLst>
      <p:ext uri="{BB962C8B-B14F-4D97-AF65-F5344CB8AC3E}">
        <p14:creationId xmlns:p14="http://schemas.microsoft.com/office/powerpoint/2010/main" val="1593391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3C3F-146C-0CA9-F456-BA84FA815A6D}"/>
              </a:ext>
            </a:extLst>
          </p:cNvPr>
          <p:cNvSpPr>
            <a:spLocks noGrp="1"/>
          </p:cNvSpPr>
          <p:nvPr>
            <p:ph type="title"/>
          </p:nvPr>
        </p:nvSpPr>
        <p:spPr/>
        <p:txBody>
          <a:bodyPr/>
          <a:lstStyle/>
          <a:p>
            <a:r>
              <a:rPr lang="en-US" b="1" dirty="0">
                <a:solidFill>
                  <a:schemeClr val="accent2"/>
                </a:solidFill>
              </a:rPr>
              <a:t>Issue 1: Absent Age Information</a:t>
            </a:r>
          </a:p>
        </p:txBody>
      </p:sp>
      <p:sp>
        <p:nvSpPr>
          <p:cNvPr id="3" name="Content Placeholder 2">
            <a:extLst>
              <a:ext uri="{FF2B5EF4-FFF2-40B4-BE49-F238E27FC236}">
                <a16:creationId xmlns:a16="http://schemas.microsoft.com/office/drawing/2014/main" id="{F81A77A2-A337-2E84-AEBF-473F297DCAB8}"/>
              </a:ext>
            </a:extLst>
          </p:cNvPr>
          <p:cNvSpPr>
            <a:spLocks noGrp="1"/>
          </p:cNvSpPr>
          <p:nvPr>
            <p:ph idx="1"/>
          </p:nvPr>
        </p:nvSpPr>
        <p:spPr>
          <a:xfrm>
            <a:off x="1295402" y="3073253"/>
            <a:ext cx="9601196" cy="2997496"/>
          </a:xfrm>
        </p:spPr>
        <p:txBody>
          <a:bodyPr>
            <a:normAutofit/>
          </a:bodyPr>
          <a:lstStyle/>
          <a:p>
            <a:r>
              <a:rPr lang="en-US" sz="1800" dirty="0">
                <a:latin typeface="Times New Roman" panose="02020603050405020304" pitchFamily="18" charset="0"/>
                <a:cs typeface="Times New Roman" panose="02020603050405020304" pitchFamily="18" charset="0"/>
              </a:rPr>
              <a:t>Method: Median imputation based on geographical location</a:t>
            </a:r>
          </a:p>
          <a:p>
            <a:r>
              <a:rPr lang="en-US" sz="1800" dirty="0">
                <a:latin typeface="Times New Roman" panose="02020603050405020304" pitchFamily="18" charset="0"/>
                <a:cs typeface="Times New Roman" panose="02020603050405020304" pitchFamily="18" charset="0"/>
              </a:rPr>
              <a:t> Example: Substitute absent age data for Houston with median value = 32</a:t>
            </a:r>
          </a:p>
          <a:p>
            <a:r>
              <a:rPr lang="en-US" sz="1800" dirty="0">
                <a:latin typeface="Times New Roman" panose="02020603050405020304" pitchFamily="18" charset="0"/>
                <a:cs typeface="Times New Roman" panose="02020603050405020304" pitchFamily="18" charset="0"/>
              </a:rPr>
              <a:t> Advantage: Preserves data integrity, mitigates bias, and enhances training stability</a:t>
            </a:r>
          </a:p>
        </p:txBody>
      </p:sp>
    </p:spTree>
    <p:extLst>
      <p:ext uri="{BB962C8B-B14F-4D97-AF65-F5344CB8AC3E}">
        <p14:creationId xmlns:p14="http://schemas.microsoft.com/office/powerpoint/2010/main" val="1452375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FA7B-11F8-AB8B-F40E-F8E3FC7E351B}"/>
              </a:ext>
            </a:extLst>
          </p:cNvPr>
          <p:cNvSpPr>
            <a:spLocks noGrp="1"/>
          </p:cNvSpPr>
          <p:nvPr>
            <p:ph type="title"/>
          </p:nvPr>
        </p:nvSpPr>
        <p:spPr/>
        <p:txBody>
          <a:bodyPr>
            <a:normAutofit/>
          </a:bodyPr>
          <a:lstStyle/>
          <a:p>
            <a:r>
              <a:rPr lang="en-US" sz="4000" b="1" dirty="0">
                <a:solidFill>
                  <a:schemeClr val="accent4">
                    <a:lumMod val="75000"/>
                  </a:schemeClr>
                </a:solidFill>
                <a:latin typeface="Times New Roman" panose="02020603050405020304" pitchFamily="18" charset="0"/>
                <a:cs typeface="Times New Roman" panose="02020603050405020304" pitchFamily="18" charset="0"/>
              </a:rPr>
              <a:t>Issue 2: Inconsistent Location Formats</a:t>
            </a:r>
          </a:p>
        </p:txBody>
      </p:sp>
      <p:sp>
        <p:nvSpPr>
          <p:cNvPr id="3" name="Content Placeholder 2">
            <a:extLst>
              <a:ext uri="{FF2B5EF4-FFF2-40B4-BE49-F238E27FC236}">
                <a16:creationId xmlns:a16="http://schemas.microsoft.com/office/drawing/2014/main" id="{EA4CDFF4-0F7A-80E5-53DA-FBCEE94AC9FB}"/>
              </a:ext>
            </a:extLst>
          </p:cNvPr>
          <p:cNvSpPr>
            <a:spLocks noGrp="1"/>
          </p:cNvSpPr>
          <p:nvPr>
            <p:ph idx="1"/>
          </p:nvPr>
        </p:nvSpPr>
        <p:spPr>
          <a:xfrm>
            <a:off x="1295401" y="3212326"/>
            <a:ext cx="9601196" cy="2663541"/>
          </a:xfrm>
        </p:spPr>
        <p:txBody>
          <a:bodyPr>
            <a:normAutofit/>
          </a:bodyPr>
          <a:lstStyle/>
          <a:p>
            <a:r>
              <a:rPr lang="en-US" sz="1800" dirty="0">
                <a:latin typeface="Times New Roman" panose="02020603050405020304" pitchFamily="18" charset="0"/>
                <a:cs typeface="Times New Roman" panose="02020603050405020304" pitchFamily="18" charset="0"/>
              </a:rPr>
              <a:t> Technique: Standardization via lookup table</a:t>
            </a:r>
          </a:p>
          <a:p>
            <a:r>
              <a:rPr lang="en-US" sz="1800" dirty="0">
                <a:latin typeface="Times New Roman" panose="02020603050405020304" pitchFamily="18" charset="0"/>
                <a:cs typeface="Times New Roman" panose="02020603050405020304" pitchFamily="18" charset="0"/>
              </a:rPr>
              <a:t> Example such as TX, </a:t>
            </a:r>
            <a:r>
              <a:rPr lang="en-US" sz="1800" dirty="0" err="1">
                <a:latin typeface="Times New Roman" panose="02020603050405020304" pitchFamily="18" charset="0"/>
                <a:cs typeface="Times New Roman" panose="02020603050405020304" pitchFamily="18" charset="0"/>
              </a:rPr>
              <a:t>tx</a:t>
            </a:r>
            <a:r>
              <a:rPr lang="en-US" sz="1800" dirty="0">
                <a:latin typeface="Times New Roman" panose="02020603050405020304" pitchFamily="18" charset="0"/>
                <a:cs typeface="Times New Roman" panose="02020603050405020304" pitchFamily="18" charset="0"/>
              </a:rPr>
              <a:t> and Texas</a:t>
            </a:r>
          </a:p>
          <a:p>
            <a:r>
              <a:rPr lang="en-US" sz="1800" dirty="0">
                <a:latin typeface="Times New Roman" panose="02020603050405020304" pitchFamily="18" charset="0"/>
                <a:cs typeface="Times New Roman" panose="02020603050405020304" pitchFamily="18" charset="0"/>
              </a:rPr>
              <a:t> Benefit: Consistent feature representation, improved clarity</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711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7C0B2-FE52-2ED1-E8F3-67009ECF1CF7}"/>
              </a:ext>
            </a:extLst>
          </p:cNvPr>
          <p:cNvSpPr>
            <a:spLocks noGrp="1"/>
          </p:cNvSpPr>
          <p:nvPr>
            <p:ph type="title"/>
          </p:nvPr>
        </p:nvSpPr>
        <p:spPr/>
        <p:txBody>
          <a:bodyPr>
            <a:normAutofit/>
          </a:bodyPr>
          <a:lstStyle/>
          <a:p>
            <a:r>
              <a:rPr lang="en-US" sz="4000" b="1" dirty="0">
                <a:solidFill>
                  <a:schemeClr val="accent5"/>
                </a:solidFill>
              </a:rPr>
              <a:t>Issue 3: Subscription Type Variations</a:t>
            </a:r>
          </a:p>
        </p:txBody>
      </p:sp>
      <p:sp>
        <p:nvSpPr>
          <p:cNvPr id="3" name="Content Placeholder 2">
            <a:extLst>
              <a:ext uri="{FF2B5EF4-FFF2-40B4-BE49-F238E27FC236}">
                <a16:creationId xmlns:a16="http://schemas.microsoft.com/office/drawing/2014/main" id="{143EAEBE-77B3-0010-3C7D-7150EC9EE0CB}"/>
              </a:ext>
            </a:extLst>
          </p:cNvPr>
          <p:cNvSpPr>
            <a:spLocks noGrp="1"/>
          </p:cNvSpPr>
          <p:nvPr>
            <p:ph idx="1"/>
          </p:nvPr>
        </p:nvSpPr>
        <p:spPr>
          <a:xfrm>
            <a:off x="1295401" y="3053300"/>
            <a:ext cx="9601196" cy="2822567"/>
          </a:xfrm>
        </p:spPr>
        <p:txBody>
          <a:bodyPr>
            <a:normAutofit/>
          </a:bodyPr>
          <a:lstStyle/>
          <a:p>
            <a:r>
              <a:rPr lang="en-US" sz="1800" dirty="0">
                <a:latin typeface="Times New Roman" panose="02020603050405020304" pitchFamily="18" charset="0"/>
                <a:cs typeface="Times New Roman" panose="02020603050405020304" pitchFamily="18" charset="0"/>
              </a:rPr>
              <a:t>Technique: Normalize + One-Hot Encoding</a:t>
            </a:r>
          </a:p>
          <a:p>
            <a:r>
              <a:rPr lang="en-US" sz="1800" dirty="0">
                <a:latin typeface="Times New Roman" panose="02020603050405020304" pitchFamily="18" charset="0"/>
                <a:cs typeface="Times New Roman" panose="02020603050405020304" pitchFamily="18" charset="0"/>
              </a:rPr>
              <a:t>Example: 'Prem', 'premium' → 'Premium' → [1,0,0]</a:t>
            </a:r>
          </a:p>
          <a:p>
            <a:r>
              <a:rPr lang="en-US" sz="1800" dirty="0">
                <a:latin typeface="Times New Roman" panose="02020603050405020304" pitchFamily="18" charset="0"/>
                <a:cs typeface="Times New Roman" panose="02020603050405020304" pitchFamily="18" charset="0"/>
              </a:rPr>
              <a:t>Benefit: Machine-readable features, reduced bias, better accuracy</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136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D0650-0048-1701-22AE-9B96B9C54EBA}"/>
              </a:ext>
            </a:extLst>
          </p:cNvPr>
          <p:cNvSpPr>
            <a:spLocks noGrp="1"/>
          </p:cNvSpPr>
          <p:nvPr>
            <p:ph type="title"/>
          </p:nvPr>
        </p:nvSpPr>
        <p:spPr/>
        <p:txBody>
          <a:bodyPr/>
          <a:lstStyle/>
          <a:p>
            <a:r>
              <a:rPr lang="en-US" b="1" dirty="0">
                <a:solidFill>
                  <a:srgbClr val="7030A0"/>
                </a:solidFill>
              </a:rPr>
              <a:t>Issue 4: Variations in Payment Methods</a:t>
            </a:r>
          </a:p>
        </p:txBody>
      </p:sp>
      <p:sp>
        <p:nvSpPr>
          <p:cNvPr id="3" name="Content Placeholder 2">
            <a:extLst>
              <a:ext uri="{FF2B5EF4-FFF2-40B4-BE49-F238E27FC236}">
                <a16:creationId xmlns:a16="http://schemas.microsoft.com/office/drawing/2014/main" id="{DD7B0858-13B1-4FAB-ED08-AAD4AA0EB739}"/>
              </a:ext>
            </a:extLst>
          </p:cNvPr>
          <p:cNvSpPr>
            <a:spLocks noGrp="1"/>
          </p:cNvSpPr>
          <p:nvPr>
            <p:ph idx="1"/>
          </p:nvPr>
        </p:nvSpPr>
        <p:spPr>
          <a:xfrm>
            <a:off x="1295401" y="2997642"/>
            <a:ext cx="9601196" cy="2878226"/>
          </a:xfrm>
        </p:spPr>
        <p:txBody>
          <a:bodyPr>
            <a:normAutofit/>
          </a:bodyPr>
          <a:lstStyle/>
          <a:p>
            <a:r>
              <a:rPr lang="en-US" sz="1800" dirty="0">
                <a:latin typeface="Times New Roman" panose="02020603050405020304" pitchFamily="18" charset="0"/>
                <a:cs typeface="Times New Roman" panose="02020603050405020304" pitchFamily="18" charset="0"/>
              </a:rPr>
              <a:t>Method: String sanitization combined with the categorization of infrequent groups</a:t>
            </a:r>
          </a:p>
          <a:p>
            <a:r>
              <a:rPr lang="en-US" sz="1800" dirty="0">
                <a:latin typeface="Times New Roman" panose="02020603050405020304" pitchFamily="18" charset="0"/>
                <a:cs typeface="Times New Roman" panose="02020603050405020304" pitchFamily="18" charset="0"/>
              </a:rPr>
              <a:t>Illustration: PayPal categorized uniformly, Bitcoin → Other</a:t>
            </a:r>
          </a:p>
          <a:p>
            <a:r>
              <a:rPr lang="en-US" sz="1800" dirty="0">
                <a:latin typeface="Times New Roman" panose="02020603050405020304" pitchFamily="18" charset="0"/>
                <a:cs typeface="Times New Roman" panose="02020603050405020304" pitchFamily="18" charset="0"/>
              </a:rPr>
              <a:t>Advantage: Minimizes extraneous data, averts overfitting, accelerates training process</a:t>
            </a:r>
          </a:p>
        </p:txBody>
      </p:sp>
    </p:spTree>
    <p:extLst>
      <p:ext uri="{BB962C8B-B14F-4D97-AF65-F5344CB8AC3E}">
        <p14:creationId xmlns:p14="http://schemas.microsoft.com/office/powerpoint/2010/main" val="354124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3DD1E-6EBC-E336-F46A-EA008958E6FC}"/>
              </a:ext>
            </a:extLst>
          </p:cNvPr>
          <p:cNvSpPr>
            <a:spLocks noGrp="1"/>
          </p:cNvSpPr>
          <p:nvPr>
            <p:ph type="title"/>
          </p:nvPr>
        </p:nvSpPr>
        <p:spPr/>
        <p:txBody>
          <a:bodyPr/>
          <a:lstStyle/>
          <a:p>
            <a:r>
              <a:rPr lang="en-US" b="1" dirty="0">
                <a:solidFill>
                  <a:schemeClr val="accent1">
                    <a:lumMod val="75000"/>
                  </a:schemeClr>
                </a:solidFill>
              </a:rPr>
              <a:t>Issue 5: Superfluous Accounts</a:t>
            </a:r>
          </a:p>
        </p:txBody>
      </p:sp>
      <p:sp>
        <p:nvSpPr>
          <p:cNvPr id="3" name="Content Placeholder 2">
            <a:extLst>
              <a:ext uri="{FF2B5EF4-FFF2-40B4-BE49-F238E27FC236}">
                <a16:creationId xmlns:a16="http://schemas.microsoft.com/office/drawing/2014/main" id="{353E1F4A-53F4-4CDA-E508-0EAB614EB548}"/>
              </a:ext>
            </a:extLst>
          </p:cNvPr>
          <p:cNvSpPr>
            <a:spLocks noGrp="1"/>
          </p:cNvSpPr>
          <p:nvPr>
            <p:ph idx="1"/>
          </p:nvPr>
        </p:nvSpPr>
        <p:spPr>
          <a:xfrm>
            <a:off x="1295401" y="3188472"/>
            <a:ext cx="9601196" cy="2687395"/>
          </a:xfrm>
        </p:spPr>
        <p:txBody>
          <a:bodyPr>
            <a:normAutofit/>
          </a:bodyPr>
          <a:lstStyle/>
          <a:p>
            <a:r>
              <a:rPr lang="en-US" sz="1800" dirty="0">
                <a:latin typeface="Times New Roman" panose="02020603050405020304" pitchFamily="18" charset="0"/>
                <a:cs typeface="Times New Roman" panose="02020603050405020304" pitchFamily="18" charset="0"/>
              </a:rPr>
              <a:t>Method: Deduplication, ensuring the retention of the latest record</a:t>
            </a:r>
          </a:p>
          <a:p>
            <a:r>
              <a:rPr lang="en-US" sz="1800" dirty="0">
                <a:latin typeface="Times New Roman" panose="02020603050405020304" pitchFamily="18" charset="0"/>
                <a:cs typeface="Times New Roman" panose="02020603050405020304" pitchFamily="18" charset="0"/>
              </a:rPr>
              <a:t>Illustration: A customer transitions from Basic to Premium, thus retaining the Premium status</a:t>
            </a:r>
          </a:p>
          <a:p>
            <a:r>
              <a:rPr lang="en-US" sz="1800" dirty="0">
                <a:latin typeface="Times New Roman" panose="02020603050405020304" pitchFamily="18" charset="0"/>
                <a:cs typeface="Times New Roman" panose="02020603050405020304" pitchFamily="18" charset="0"/>
              </a:rPr>
              <a:t>Advantage: Ensures equitable representation and prevents double counting</a:t>
            </a:r>
          </a:p>
        </p:txBody>
      </p:sp>
    </p:spTree>
    <p:extLst>
      <p:ext uri="{BB962C8B-B14F-4D97-AF65-F5344CB8AC3E}">
        <p14:creationId xmlns:p14="http://schemas.microsoft.com/office/powerpoint/2010/main" val="376411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E7B66-D78E-A7F3-B3EE-2933376CA6FF}"/>
              </a:ext>
            </a:extLst>
          </p:cNvPr>
          <p:cNvSpPr>
            <a:spLocks noGrp="1"/>
          </p:cNvSpPr>
          <p:nvPr>
            <p:ph type="title"/>
          </p:nvPr>
        </p:nvSpPr>
        <p:spPr/>
        <p:txBody>
          <a:bodyPr/>
          <a:lstStyle/>
          <a:p>
            <a:r>
              <a:rPr lang="en-US" b="1" dirty="0">
                <a:solidFill>
                  <a:schemeClr val="accent5">
                    <a:lumMod val="50000"/>
                  </a:schemeClr>
                </a:solidFill>
              </a:rPr>
              <a:t>Wider Implications of Deep Learning</a:t>
            </a:r>
          </a:p>
        </p:txBody>
      </p:sp>
      <p:sp>
        <p:nvSpPr>
          <p:cNvPr id="3" name="Content Placeholder 2">
            <a:extLst>
              <a:ext uri="{FF2B5EF4-FFF2-40B4-BE49-F238E27FC236}">
                <a16:creationId xmlns:a16="http://schemas.microsoft.com/office/drawing/2014/main" id="{1C65DB22-A39B-D458-0687-3AD1684F0E63}"/>
              </a:ext>
            </a:extLst>
          </p:cNvPr>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 Enhanced precision (for instance: 72% → 85%)</a:t>
            </a:r>
          </a:p>
          <a:p>
            <a:pPr marL="0" indent="0">
              <a:buNone/>
            </a:pPr>
            <a:r>
              <a:rPr lang="en-US" sz="1800" dirty="0">
                <a:latin typeface="Times New Roman" panose="02020603050405020304" pitchFamily="18" charset="0"/>
                <a:cs typeface="Times New Roman" panose="02020603050405020304" pitchFamily="18" charset="0"/>
              </a:rPr>
              <a:t>• Accelerated convergence with consistent gradients</a:t>
            </a:r>
          </a:p>
          <a:p>
            <a:pPr marL="0" indent="0">
              <a:buNone/>
            </a:pPr>
            <a:r>
              <a:rPr lang="en-US" sz="1800" dirty="0">
                <a:latin typeface="Times New Roman" panose="02020603050405020304" pitchFamily="18" charset="0"/>
                <a:cs typeface="Times New Roman" panose="02020603050405020304" pitchFamily="18" charset="0"/>
              </a:rPr>
              <a:t>• Superior generalization on previously unobserved data</a:t>
            </a:r>
          </a:p>
          <a:p>
            <a:pPr marL="0" indent="0">
              <a:buNone/>
            </a:pPr>
            <a:r>
              <a:rPr lang="en-US" sz="1800" dirty="0">
                <a:latin typeface="Times New Roman" panose="02020603050405020304" pitchFamily="18" charset="0"/>
                <a:cs typeface="Times New Roman" panose="02020603050405020304" pitchFamily="18" charset="0"/>
              </a:rPr>
              <a:t>• Resource-efficient training and model efficacy</a:t>
            </a:r>
          </a:p>
        </p:txBody>
      </p:sp>
    </p:spTree>
    <p:extLst>
      <p:ext uri="{BB962C8B-B14F-4D97-AF65-F5344CB8AC3E}">
        <p14:creationId xmlns:p14="http://schemas.microsoft.com/office/powerpoint/2010/main" val="3797762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42B5-6306-A892-58C0-F881219B5814}"/>
              </a:ext>
            </a:extLst>
          </p:cNvPr>
          <p:cNvSpPr>
            <a:spLocks noGrp="1"/>
          </p:cNvSpPr>
          <p:nvPr>
            <p:ph type="title"/>
          </p:nvPr>
        </p:nvSpPr>
        <p:spPr/>
        <p:txBody>
          <a:bodyPr/>
          <a:lstStyle/>
          <a:p>
            <a:r>
              <a:rPr lang="en-US" b="1" dirty="0">
                <a:solidFill>
                  <a:schemeClr val="accent2"/>
                </a:solidFill>
              </a:rPr>
              <a:t>Summary</a:t>
            </a:r>
          </a:p>
        </p:txBody>
      </p:sp>
      <p:sp>
        <p:nvSpPr>
          <p:cNvPr id="3" name="Content Placeholder 2">
            <a:extLst>
              <a:ext uri="{FF2B5EF4-FFF2-40B4-BE49-F238E27FC236}">
                <a16:creationId xmlns:a16="http://schemas.microsoft.com/office/drawing/2014/main" id="{D983919D-080E-594B-0F0E-460D2D82444B}"/>
              </a:ext>
            </a:extLst>
          </p:cNvPr>
          <p:cNvSpPr>
            <a:spLocks noGrp="1"/>
          </p:cNvSpPr>
          <p:nvPr>
            <p:ph idx="1"/>
          </p:nvPr>
        </p:nvSpPr>
        <p:spPr/>
        <p:txBody>
          <a:bodyPr>
            <a:noAutofit/>
          </a:bodyPr>
          <a:lstStyle/>
          <a:p>
            <a:r>
              <a:rPr lang="en-US" sz="1800" dirty="0">
                <a:latin typeface="Times New Roman" panose="02020603050405020304" pitchFamily="18" charset="0"/>
                <a:cs typeface="Times New Roman" panose="02020603050405020304" pitchFamily="18" charset="0"/>
              </a:rPr>
              <a:t>Data preprocessing serves as the cornerstone of dependable deep learning workflows</a:t>
            </a:r>
          </a:p>
          <a:p>
            <a:r>
              <a:rPr lang="en-US" sz="1800" dirty="0">
                <a:latin typeface="Times New Roman" panose="02020603050405020304" pitchFamily="18" charset="0"/>
                <a:cs typeface="Times New Roman" panose="02020603050405020304" pitchFamily="18" charset="0"/>
              </a:rPr>
              <a:t>Our methodology addressed issues such as missing values, inconsistencies, infrequent categories, and duplicate entries</a:t>
            </a:r>
          </a:p>
          <a:p>
            <a:r>
              <a:rPr lang="en-US" sz="1800" dirty="0">
                <a:latin typeface="Times New Roman" panose="02020603050405020304" pitchFamily="18" charset="0"/>
                <a:cs typeface="Times New Roman" panose="02020603050405020304" pitchFamily="18" charset="0"/>
              </a:rPr>
              <a:t>Enhanced data quality leads to improved accuracy, faster training times, and greater model resilience</a:t>
            </a:r>
          </a:p>
          <a:p>
            <a:r>
              <a:rPr lang="en-US" sz="1800" dirty="0">
                <a:latin typeface="Times New Roman" panose="02020603050405020304" pitchFamily="18" charset="0"/>
                <a:cs typeface="Times New Roman" panose="02020603050405020304" pitchFamily="18" charset="0"/>
              </a:rPr>
              <a:t>More accurate predictions contribute to minimizing customer churn and fostering business success</a:t>
            </a:r>
          </a:p>
          <a:p>
            <a:r>
              <a:rPr lang="en-US" sz="1800" dirty="0">
                <a:latin typeface="Times New Roman" panose="02020603050405020304" pitchFamily="18" charset="0"/>
                <a:cs typeface="Times New Roman" panose="02020603050405020304" pitchFamily="18" charset="0"/>
              </a:rPr>
              <a:t>In our role as Data Wranglers, we transformed raw disorder into clear insights</a:t>
            </a:r>
          </a:p>
        </p:txBody>
      </p:sp>
    </p:spTree>
    <p:extLst>
      <p:ext uri="{BB962C8B-B14F-4D97-AF65-F5344CB8AC3E}">
        <p14:creationId xmlns:p14="http://schemas.microsoft.com/office/powerpoint/2010/main" val="3598215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BAED9-9F11-0C9F-9C9D-A3D754FA2615}"/>
              </a:ext>
            </a:extLst>
          </p:cNvPr>
          <p:cNvSpPr>
            <a:spLocks noGrp="1"/>
          </p:cNvSpPr>
          <p:nvPr>
            <p:ph type="title"/>
          </p:nvPr>
        </p:nvSpPr>
        <p:spPr/>
        <p:txBody>
          <a:bodyPr>
            <a:noAutofit/>
          </a:bodyPr>
          <a:lstStyle/>
          <a:p>
            <a:r>
              <a:rPr lang="en-US" b="1" dirty="0">
                <a:solidFill>
                  <a:schemeClr val="accent2">
                    <a:lumMod val="60000"/>
                    <a:lumOff val="40000"/>
                  </a:schemeClr>
                </a:solidFill>
              </a:rPr>
              <a:t>Spoken Conclusion:</a:t>
            </a:r>
            <a:br>
              <a:rPr lang="en-US" b="1" dirty="0">
                <a:solidFill>
                  <a:schemeClr val="accent2">
                    <a:lumMod val="60000"/>
                    <a:lumOff val="40000"/>
                  </a:schemeClr>
                </a:solidFill>
              </a:rPr>
            </a:br>
            <a:endParaRPr lang="en-US" b="1" dirty="0">
              <a:solidFill>
                <a:schemeClr val="accent2">
                  <a:lumMod val="60000"/>
                  <a:lumOff val="40000"/>
                </a:schemeClr>
              </a:solidFill>
            </a:endParaRPr>
          </a:p>
        </p:txBody>
      </p:sp>
      <p:sp>
        <p:nvSpPr>
          <p:cNvPr id="3" name="Content Placeholder 2">
            <a:extLst>
              <a:ext uri="{FF2B5EF4-FFF2-40B4-BE49-F238E27FC236}">
                <a16:creationId xmlns:a16="http://schemas.microsoft.com/office/drawing/2014/main" id="{821C0BFE-1639-6F31-32AA-65BB5E7C67E6}"/>
              </a:ext>
            </a:extLst>
          </p:cNvPr>
          <p:cNvSpPr>
            <a:spLocks noGrp="1"/>
          </p:cNvSpPr>
          <p:nvPr>
            <p:ph idx="1"/>
          </p:nvPr>
        </p:nvSpPr>
        <p:spPr>
          <a:xfrm>
            <a:off x="1295401" y="3029446"/>
            <a:ext cx="9601196" cy="2846421"/>
          </a:xfrm>
        </p:spPr>
        <p:txBody>
          <a:bodyPr>
            <a:normAutofit/>
          </a:bodyPr>
          <a:lstStyle/>
          <a:p>
            <a:r>
              <a:rPr lang="en-US" sz="1800" dirty="0">
                <a:latin typeface="Times New Roman" panose="02020603050405020304" pitchFamily="18" charset="0"/>
                <a:cs typeface="Times New Roman" panose="02020603050405020304" pitchFamily="18" charset="0"/>
              </a:rPr>
              <a:t>Ultimately, our project demonstrated that preprocessing is more than merely a technical procedure; it serves as the cornerstone of dependable deep learning. By tackling issues such as missing values, inconsistencies, infrequent categories, and duplicates, we converted disorganized customer data into structured and significant input. Enhanced data quality results in improved accuracy, expedited training, and more resilient predictions; ultimately assisting the streaming service in minimizing churn and making more informed decisions. As Data Wranglers, we transformed disorder into clarity, illustrating that the quality of the data is equally as crucial as the model itself.</a:t>
            </a:r>
          </a:p>
        </p:txBody>
      </p:sp>
    </p:spTree>
    <p:extLst>
      <p:ext uri="{BB962C8B-B14F-4D97-AF65-F5344CB8AC3E}">
        <p14:creationId xmlns:p14="http://schemas.microsoft.com/office/powerpoint/2010/main" val="12398309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62</TotalTime>
  <Words>625</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Garamond</vt:lpstr>
      <vt:lpstr>Times New Roman</vt:lpstr>
      <vt:lpstr>Organic</vt:lpstr>
      <vt:lpstr>PowerPoint Presentation</vt:lpstr>
      <vt:lpstr>Data Wranglers: Preprocessing Customer Profile Data for Churn Prediction</vt:lpstr>
      <vt:lpstr>Introduction</vt:lpstr>
      <vt:lpstr>Data Investigation: Identified Issues</vt:lpstr>
      <vt:lpstr>Issue 1: Absent Age Information</vt:lpstr>
      <vt:lpstr>Issue 2: Inconsistent Location Formats</vt:lpstr>
      <vt:lpstr>Issue 3: Subscription Type Variations</vt:lpstr>
      <vt:lpstr>Issue 4: Variations in Payment Methods</vt:lpstr>
      <vt:lpstr>Issue 5: Superfluous Accounts</vt:lpstr>
      <vt:lpstr>Wider Implications of Deep Learning</vt:lpstr>
      <vt:lpstr>Summary</vt:lpstr>
      <vt:lpstr>Spoken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williane Yarro</dc:creator>
  <cp:lastModifiedBy>williane Yarro</cp:lastModifiedBy>
  <cp:revision>1</cp:revision>
  <dcterms:created xsi:type="dcterms:W3CDTF">2025-09-30T02:05:14Z</dcterms:created>
  <dcterms:modified xsi:type="dcterms:W3CDTF">2025-09-30T03:07:17Z</dcterms:modified>
</cp:coreProperties>
</file>